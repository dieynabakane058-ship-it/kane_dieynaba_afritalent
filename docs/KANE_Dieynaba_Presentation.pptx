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9199225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24" userDrawn="1">
          <p15:clr>
            <a:srgbClr val="A4A3A4"/>
          </p15:clr>
        </p15:guide>
        <p15:guide id="2" pos="62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17" autoAdjust="0"/>
    <p:restoredTop sz="86345" autoAdjust="0"/>
  </p:normalViewPr>
  <p:slideViewPr>
    <p:cSldViewPr snapToGrid="0" showGuides="1">
      <p:cViewPr varScale="1">
        <p:scale>
          <a:sx n="34" d="100"/>
          <a:sy n="34" d="100"/>
        </p:scale>
        <p:origin x="1324" y="56"/>
      </p:cViewPr>
      <p:guideLst>
        <p:guide orient="horz" pos="3424"/>
        <p:guide pos="6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2D628-763F-4C04-BB4E-414F142F70B1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SN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EB3B8-EE5F-48E9-8602-B4339C8D0E58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039257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S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EB3B8-EE5F-48E9-8602-B4339C8D0E58}" type="slidenum">
              <a:rPr lang="fr-SN" smtClean="0"/>
              <a:t>2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828145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S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EB3B8-EE5F-48E9-8602-B4339C8D0E58}" type="slidenum">
              <a:rPr lang="fr-SN" smtClean="0"/>
              <a:t>5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93372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S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EB3B8-EE5F-48E9-8602-B4339C8D0E58}" type="slidenum">
              <a:rPr lang="fr-SN" smtClean="0"/>
              <a:t>8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35562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S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EB3B8-EE5F-48E9-8602-B4339C8D0E58}" type="slidenum">
              <a:rPr lang="fr-SN" smtClean="0"/>
              <a:t>10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920414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S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EB3B8-EE5F-48E9-8602-B4339C8D0E58}" type="slidenum">
              <a:rPr lang="fr-SN" smtClean="0"/>
              <a:t>12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426029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9903" y="1767462"/>
            <a:ext cx="14399419" cy="3759917"/>
          </a:xfrm>
        </p:spPr>
        <p:txBody>
          <a:bodyPr anchor="b"/>
          <a:lstStyle>
            <a:lvl1pPr algn="ctr">
              <a:defRPr sz="944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9903" y="5672376"/>
            <a:ext cx="14399419" cy="2607442"/>
          </a:xfrm>
        </p:spPr>
        <p:txBody>
          <a:bodyPr/>
          <a:lstStyle>
            <a:lvl1pPr marL="0" indent="0" algn="ctr">
              <a:buNone/>
              <a:defRPr sz="3779"/>
            </a:lvl1pPr>
            <a:lvl2pPr marL="719953" indent="0" algn="ctr">
              <a:buNone/>
              <a:defRPr sz="3149"/>
            </a:lvl2pPr>
            <a:lvl3pPr marL="1439906" indent="0" algn="ctr">
              <a:buNone/>
              <a:defRPr sz="2834"/>
            </a:lvl3pPr>
            <a:lvl4pPr marL="2159859" indent="0" algn="ctr">
              <a:buNone/>
              <a:defRPr sz="2520"/>
            </a:lvl4pPr>
            <a:lvl5pPr marL="2879811" indent="0" algn="ctr">
              <a:buNone/>
              <a:defRPr sz="2520"/>
            </a:lvl5pPr>
            <a:lvl6pPr marL="3599764" indent="0" algn="ctr">
              <a:buNone/>
              <a:defRPr sz="2520"/>
            </a:lvl6pPr>
            <a:lvl7pPr marL="4319717" indent="0" algn="ctr">
              <a:buNone/>
              <a:defRPr sz="2520"/>
            </a:lvl7pPr>
            <a:lvl8pPr marL="5039670" indent="0" algn="ctr">
              <a:buNone/>
              <a:defRPr sz="2520"/>
            </a:lvl8pPr>
            <a:lvl9pPr marL="5759623" indent="0" algn="ctr">
              <a:buNone/>
              <a:defRPr sz="252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67587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90557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947" y="2692442"/>
            <a:ext cx="16559332" cy="4492401"/>
          </a:xfrm>
        </p:spPr>
        <p:txBody>
          <a:bodyPr anchor="b"/>
          <a:lstStyle>
            <a:lvl1pPr>
              <a:defRPr sz="944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947" y="7227343"/>
            <a:ext cx="16559332" cy="2362447"/>
          </a:xfrm>
        </p:spPr>
        <p:txBody>
          <a:bodyPr/>
          <a:lstStyle>
            <a:lvl1pPr marL="0" indent="0">
              <a:buNone/>
              <a:defRPr sz="3779">
                <a:solidFill>
                  <a:schemeClr val="tx1">
                    <a:tint val="75000"/>
                  </a:schemeClr>
                </a:solidFill>
              </a:defRPr>
            </a:lvl1pPr>
            <a:lvl2pPr marL="719953" indent="0">
              <a:buNone/>
              <a:defRPr sz="3149">
                <a:solidFill>
                  <a:schemeClr val="tx1">
                    <a:tint val="75000"/>
                  </a:schemeClr>
                </a:solidFill>
              </a:defRPr>
            </a:lvl2pPr>
            <a:lvl3pPr marL="1439906" indent="0">
              <a:buNone/>
              <a:defRPr sz="2834">
                <a:solidFill>
                  <a:schemeClr val="tx1">
                    <a:tint val="75000"/>
                  </a:schemeClr>
                </a:solidFill>
              </a:defRPr>
            </a:lvl3pPr>
            <a:lvl4pPr marL="2159859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81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76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717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67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62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986501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9947" y="2874937"/>
            <a:ext cx="8159671" cy="68523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9607" y="2874937"/>
            <a:ext cx="8159671" cy="68523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603483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7" y="574988"/>
            <a:ext cx="16559332" cy="208745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2448" y="2647443"/>
            <a:ext cx="8122171" cy="1297471"/>
          </a:xfrm>
        </p:spPr>
        <p:txBody>
          <a:bodyPr anchor="b"/>
          <a:lstStyle>
            <a:lvl1pPr marL="0" indent="0">
              <a:buNone/>
              <a:defRPr sz="3779" b="1"/>
            </a:lvl1pPr>
            <a:lvl2pPr marL="719953" indent="0">
              <a:buNone/>
              <a:defRPr sz="3149" b="1"/>
            </a:lvl2pPr>
            <a:lvl3pPr marL="1439906" indent="0">
              <a:buNone/>
              <a:defRPr sz="2834" b="1"/>
            </a:lvl3pPr>
            <a:lvl4pPr marL="2159859" indent="0">
              <a:buNone/>
              <a:defRPr sz="2520" b="1"/>
            </a:lvl4pPr>
            <a:lvl5pPr marL="2879811" indent="0">
              <a:buNone/>
              <a:defRPr sz="2520" b="1"/>
            </a:lvl5pPr>
            <a:lvl6pPr marL="3599764" indent="0">
              <a:buNone/>
              <a:defRPr sz="2520" b="1"/>
            </a:lvl6pPr>
            <a:lvl7pPr marL="4319717" indent="0">
              <a:buNone/>
              <a:defRPr sz="2520" b="1"/>
            </a:lvl7pPr>
            <a:lvl8pPr marL="5039670" indent="0">
              <a:buNone/>
              <a:defRPr sz="2520" b="1"/>
            </a:lvl8pPr>
            <a:lvl9pPr marL="5759623" indent="0">
              <a:buNone/>
              <a:defRPr sz="252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2448" y="3944914"/>
            <a:ext cx="8122171" cy="58023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719608" y="2647443"/>
            <a:ext cx="8162171" cy="1297471"/>
          </a:xfrm>
        </p:spPr>
        <p:txBody>
          <a:bodyPr anchor="b"/>
          <a:lstStyle>
            <a:lvl1pPr marL="0" indent="0">
              <a:buNone/>
              <a:defRPr sz="3779" b="1"/>
            </a:lvl1pPr>
            <a:lvl2pPr marL="719953" indent="0">
              <a:buNone/>
              <a:defRPr sz="3149" b="1"/>
            </a:lvl2pPr>
            <a:lvl3pPr marL="1439906" indent="0">
              <a:buNone/>
              <a:defRPr sz="2834" b="1"/>
            </a:lvl3pPr>
            <a:lvl4pPr marL="2159859" indent="0">
              <a:buNone/>
              <a:defRPr sz="2520" b="1"/>
            </a:lvl4pPr>
            <a:lvl5pPr marL="2879811" indent="0">
              <a:buNone/>
              <a:defRPr sz="2520" b="1"/>
            </a:lvl5pPr>
            <a:lvl6pPr marL="3599764" indent="0">
              <a:buNone/>
              <a:defRPr sz="2520" b="1"/>
            </a:lvl6pPr>
            <a:lvl7pPr marL="4319717" indent="0">
              <a:buNone/>
              <a:defRPr sz="2520" b="1"/>
            </a:lvl7pPr>
            <a:lvl8pPr marL="5039670" indent="0">
              <a:buNone/>
              <a:defRPr sz="2520" b="1"/>
            </a:lvl8pPr>
            <a:lvl9pPr marL="5759623" indent="0">
              <a:buNone/>
              <a:defRPr sz="252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719608" y="3944914"/>
            <a:ext cx="8162171" cy="58023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20453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528659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51746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8" y="719984"/>
            <a:ext cx="6192249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171" y="1554966"/>
            <a:ext cx="97196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79"/>
            </a:lvl3pPr>
            <a:lvl4pPr>
              <a:defRPr sz="3149"/>
            </a:lvl4pPr>
            <a:lvl5pPr>
              <a:defRPr sz="3149"/>
            </a:lvl5pPr>
            <a:lvl6pPr>
              <a:defRPr sz="3149"/>
            </a:lvl6pPr>
            <a:lvl7pPr>
              <a:defRPr sz="3149"/>
            </a:lvl7pPr>
            <a:lvl8pPr>
              <a:defRPr sz="3149"/>
            </a:lvl8pPr>
            <a:lvl9pPr>
              <a:defRPr sz="314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448" y="3239929"/>
            <a:ext cx="6192249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53" indent="0">
              <a:buNone/>
              <a:defRPr sz="2205"/>
            </a:lvl2pPr>
            <a:lvl3pPr marL="1439906" indent="0">
              <a:buNone/>
              <a:defRPr sz="1890"/>
            </a:lvl3pPr>
            <a:lvl4pPr marL="2159859" indent="0">
              <a:buNone/>
              <a:defRPr sz="1575"/>
            </a:lvl4pPr>
            <a:lvl5pPr marL="2879811" indent="0">
              <a:buNone/>
              <a:defRPr sz="1575"/>
            </a:lvl5pPr>
            <a:lvl6pPr marL="3599764" indent="0">
              <a:buNone/>
              <a:defRPr sz="1575"/>
            </a:lvl6pPr>
            <a:lvl7pPr marL="4319717" indent="0">
              <a:buNone/>
              <a:defRPr sz="1575"/>
            </a:lvl7pPr>
            <a:lvl8pPr marL="5039670" indent="0">
              <a:buNone/>
              <a:defRPr sz="1575"/>
            </a:lvl8pPr>
            <a:lvl9pPr marL="5759623" indent="0">
              <a:buNone/>
              <a:defRPr sz="15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113589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8" y="719984"/>
            <a:ext cx="6192249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62171" y="1554966"/>
            <a:ext cx="97196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53" indent="0">
              <a:buNone/>
              <a:defRPr sz="4409"/>
            </a:lvl2pPr>
            <a:lvl3pPr marL="1439906" indent="0">
              <a:buNone/>
              <a:defRPr sz="3779"/>
            </a:lvl3pPr>
            <a:lvl4pPr marL="2159859" indent="0">
              <a:buNone/>
              <a:defRPr sz="3149"/>
            </a:lvl4pPr>
            <a:lvl5pPr marL="2879811" indent="0">
              <a:buNone/>
              <a:defRPr sz="3149"/>
            </a:lvl5pPr>
            <a:lvl6pPr marL="3599764" indent="0">
              <a:buNone/>
              <a:defRPr sz="3149"/>
            </a:lvl6pPr>
            <a:lvl7pPr marL="4319717" indent="0">
              <a:buNone/>
              <a:defRPr sz="3149"/>
            </a:lvl7pPr>
            <a:lvl8pPr marL="5039670" indent="0">
              <a:buNone/>
              <a:defRPr sz="3149"/>
            </a:lvl8pPr>
            <a:lvl9pPr marL="5759623" indent="0">
              <a:buNone/>
              <a:defRPr sz="3149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448" y="3239929"/>
            <a:ext cx="6192249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53" indent="0">
              <a:buNone/>
              <a:defRPr sz="2205"/>
            </a:lvl2pPr>
            <a:lvl3pPr marL="1439906" indent="0">
              <a:buNone/>
              <a:defRPr sz="1890"/>
            </a:lvl3pPr>
            <a:lvl4pPr marL="2159859" indent="0">
              <a:buNone/>
              <a:defRPr sz="1575"/>
            </a:lvl4pPr>
            <a:lvl5pPr marL="2879811" indent="0">
              <a:buNone/>
              <a:defRPr sz="1575"/>
            </a:lvl5pPr>
            <a:lvl6pPr marL="3599764" indent="0">
              <a:buNone/>
              <a:defRPr sz="1575"/>
            </a:lvl6pPr>
            <a:lvl7pPr marL="4319717" indent="0">
              <a:buNone/>
              <a:defRPr sz="1575"/>
            </a:lvl7pPr>
            <a:lvl8pPr marL="5039670" indent="0">
              <a:buNone/>
              <a:defRPr sz="1575"/>
            </a:lvl8pPr>
            <a:lvl9pPr marL="5759623" indent="0">
              <a:buNone/>
              <a:defRPr sz="15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30109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20398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739445" y="574987"/>
            <a:ext cx="4139833" cy="9152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19947" y="574987"/>
            <a:ext cx="12179508" cy="91523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27752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19947" y="574988"/>
            <a:ext cx="1655933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947" y="2874937"/>
            <a:ext cx="1655933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19947" y="10009781"/>
            <a:ext cx="431982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8E4FE-E27C-4BD1-BEA9-32A6B858C9A9}" type="datetimeFigureOut">
              <a:rPr lang="fr-SN" smtClean="0"/>
              <a:t>29/06/2026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9744" y="10009781"/>
            <a:ext cx="647973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559452" y="10009781"/>
            <a:ext cx="431982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26263-8EEB-4295-81EF-2140523A2970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27705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439906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76" indent="-359976" algn="l" defTabSz="143990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29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79" kern="1200">
          <a:solidFill>
            <a:schemeClr val="tx1"/>
          </a:solidFill>
          <a:latin typeface="+mn-lt"/>
          <a:ea typeface="+mn-ea"/>
          <a:cs typeface="+mn-cs"/>
        </a:defRPr>
      </a:lvl2pPr>
      <a:lvl3pPr marL="1799882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49" kern="1200">
          <a:solidFill>
            <a:schemeClr val="tx1"/>
          </a:solidFill>
          <a:latin typeface="+mn-lt"/>
          <a:ea typeface="+mn-ea"/>
          <a:cs typeface="+mn-cs"/>
        </a:defRPr>
      </a:lvl3pPr>
      <a:lvl4pPr marL="2519835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4pPr>
      <a:lvl5pPr marL="3239788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5pPr>
      <a:lvl6pPr marL="3959741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6pPr>
      <a:lvl7pPr marL="4679693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7pPr>
      <a:lvl8pPr marL="5399646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8pPr>
      <a:lvl9pPr marL="6119599" indent="-359976" algn="l" defTabSz="1439906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2pPr>
      <a:lvl3pPr marL="1439906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3pPr>
      <a:lvl4pPr marL="2159859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4pPr>
      <a:lvl5pPr marL="2879811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5pPr>
      <a:lvl6pPr marL="3599764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6pPr>
      <a:lvl7pPr marL="4319717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7pPr>
      <a:lvl8pPr marL="5039670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8pPr>
      <a:lvl9pPr marL="5759623" algn="l" defTabSz="1439906" rtl="0" eaLnBrk="1" latinLnBrk="0" hangingPunct="1">
        <a:defRPr sz="28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323415-C4B7-4AE6-8495-0909B1E6B668}"/>
              </a:ext>
            </a:extLst>
          </p:cNvPr>
          <p:cNvSpPr txBox="1"/>
          <p:nvPr/>
        </p:nvSpPr>
        <p:spPr>
          <a:xfrm>
            <a:off x="5237696" y="116346"/>
            <a:ext cx="7686939" cy="688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872" b="1" u="sng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Soutenance</a:t>
            </a:r>
            <a:r>
              <a:rPr lang="fr-FR" sz="3872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 Projet</a:t>
            </a:r>
            <a:endParaRPr lang="fr-SN" sz="3872" b="1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42E8B7D-71DB-4FB6-AECA-F3C1DF272455}"/>
              </a:ext>
            </a:extLst>
          </p:cNvPr>
          <p:cNvSpPr txBox="1"/>
          <p:nvPr/>
        </p:nvSpPr>
        <p:spPr>
          <a:xfrm>
            <a:off x="6703128" y="1794116"/>
            <a:ext cx="4981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endParaRPr lang="fr-SN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archemin : horizontal 6">
            <a:extLst>
              <a:ext uri="{FF2B5EF4-FFF2-40B4-BE49-F238E27FC236}">
                <a16:creationId xmlns:a16="http://schemas.microsoft.com/office/drawing/2014/main" id="{71887462-F21F-4E3D-A4BA-B8C48ECEAFBD}"/>
              </a:ext>
            </a:extLst>
          </p:cNvPr>
          <p:cNvSpPr/>
          <p:nvPr/>
        </p:nvSpPr>
        <p:spPr>
          <a:xfrm>
            <a:off x="6393307" y="1468415"/>
            <a:ext cx="5752364" cy="1626413"/>
          </a:xfrm>
          <a:prstGeom prst="horizontalScroll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413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74E0CB7-9C1C-404F-8BB5-EAC188AFDD54}"/>
              </a:ext>
            </a:extLst>
          </p:cNvPr>
          <p:cNvSpPr txBox="1"/>
          <p:nvPr/>
        </p:nvSpPr>
        <p:spPr>
          <a:xfrm>
            <a:off x="6393307" y="3363560"/>
            <a:ext cx="6762452" cy="41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112" dirty="0"/>
              <a:t>Plateforme de mise en relation Freelances &amp; Entreprises</a:t>
            </a:r>
            <a:endParaRPr lang="fr-SN" sz="2112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20E5EE9-EA19-43E8-8522-4026DEFEA940}"/>
              </a:ext>
            </a:extLst>
          </p:cNvPr>
          <p:cNvSpPr txBox="1"/>
          <p:nvPr/>
        </p:nvSpPr>
        <p:spPr>
          <a:xfrm>
            <a:off x="5438802" y="8528594"/>
            <a:ext cx="19090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u="sng" dirty="0">
                <a:solidFill>
                  <a:srgbClr val="002060"/>
                </a:solidFill>
              </a:rPr>
              <a:t>Présentée par</a:t>
            </a:r>
          </a:p>
          <a:p>
            <a:endParaRPr lang="fr-FR" dirty="0"/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KANE Dieynaba</a:t>
            </a:r>
            <a:endParaRPr lang="fr-S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63DA4D9-F566-48B8-9096-07A9DD8C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139" y="4280270"/>
            <a:ext cx="4170947" cy="294761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8E400B79-624A-4C27-90BD-8B47800E41F2}"/>
              </a:ext>
            </a:extLst>
          </p:cNvPr>
          <p:cNvSpPr txBox="1"/>
          <p:nvPr/>
        </p:nvSpPr>
        <p:spPr>
          <a:xfrm>
            <a:off x="8791658" y="8528594"/>
            <a:ext cx="30597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u="sng" dirty="0">
                <a:solidFill>
                  <a:srgbClr val="002060"/>
                </a:solidFill>
              </a:rPr>
              <a:t>Classe/filière</a:t>
            </a:r>
          </a:p>
          <a:p>
            <a:endParaRPr lang="fr-FR" dirty="0"/>
          </a:p>
          <a:p>
            <a:r>
              <a:rPr lang="fr-FR" dirty="0"/>
              <a:t>Licence 1 en réseaux télécom</a:t>
            </a:r>
            <a:endParaRPr lang="fr-SN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0B0D420-4665-4237-BD84-302DC2CC8D53}"/>
              </a:ext>
            </a:extLst>
          </p:cNvPr>
          <p:cNvSpPr txBox="1"/>
          <p:nvPr/>
        </p:nvSpPr>
        <p:spPr>
          <a:xfrm>
            <a:off x="12272794" y="10314085"/>
            <a:ext cx="2614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ANNEE 2026</a:t>
            </a: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254981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0E2FA01-8EE8-448D-8C47-166D1DF8314C}"/>
              </a:ext>
            </a:extLst>
          </p:cNvPr>
          <p:cNvSpPr/>
          <p:nvPr/>
        </p:nvSpPr>
        <p:spPr>
          <a:xfrm rot="19780372">
            <a:off x="5569947" y="2700592"/>
            <a:ext cx="3240000" cy="3240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88F48CC-AF16-4686-9386-9E0EA5F1081C}"/>
              </a:ext>
            </a:extLst>
          </p:cNvPr>
          <p:cNvSpPr/>
          <p:nvPr/>
        </p:nvSpPr>
        <p:spPr>
          <a:xfrm rot="19780372">
            <a:off x="5290058" y="4499806"/>
            <a:ext cx="3240000" cy="3240000"/>
          </a:xfrm>
          <a:prstGeom prst="round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9A9E3C8E-FC2F-4AFC-B322-E43824758B7E}"/>
              </a:ext>
            </a:extLst>
          </p:cNvPr>
          <p:cNvGrpSpPr/>
          <p:nvPr/>
        </p:nvGrpSpPr>
        <p:grpSpPr>
          <a:xfrm>
            <a:off x="5288392" y="2701672"/>
            <a:ext cx="3519889" cy="5039214"/>
            <a:chOff x="316420" y="2700591"/>
            <a:chExt cx="3519889" cy="5039214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09D560F1-B2D4-4791-821F-567831B3EC71}"/>
                </a:ext>
              </a:extLst>
            </p:cNvPr>
            <p:cNvSpPr/>
            <p:nvPr/>
          </p:nvSpPr>
          <p:spPr>
            <a:xfrm rot="19780372">
              <a:off x="596309" y="2700591"/>
              <a:ext cx="3240000" cy="324000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800FB0A2-6DE4-454B-9249-F9C1E64FF16A}"/>
                </a:ext>
              </a:extLst>
            </p:cNvPr>
            <p:cNvSpPr/>
            <p:nvPr/>
          </p:nvSpPr>
          <p:spPr>
            <a:xfrm rot="19780372">
              <a:off x="316420" y="4499805"/>
              <a:ext cx="3240000" cy="3240000"/>
            </a:xfrm>
            <a:prstGeom prst="roundRect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3F506693-5BF2-4351-BF3F-AF23A9890B30}"/>
              </a:ext>
            </a:extLst>
          </p:cNvPr>
          <p:cNvSpPr txBox="1"/>
          <p:nvPr/>
        </p:nvSpPr>
        <p:spPr>
          <a:xfrm>
            <a:off x="5898557" y="5659741"/>
            <a:ext cx="2582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SOMMAIRE</a:t>
            </a:r>
            <a:endParaRPr lang="fr-SN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3CCA2BA2-1CDC-40DC-9374-6B3621CE001F}"/>
              </a:ext>
            </a:extLst>
          </p:cNvPr>
          <p:cNvGrpSpPr/>
          <p:nvPr/>
        </p:nvGrpSpPr>
        <p:grpSpPr>
          <a:xfrm>
            <a:off x="9168914" y="1653063"/>
            <a:ext cx="4216352" cy="654804"/>
            <a:chOff x="9124703" y="2396500"/>
            <a:chExt cx="4216352" cy="654804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2ADED4D7-A050-47EC-9A36-9EBEAD7CC3FF}"/>
                </a:ext>
              </a:extLst>
            </p:cNvPr>
            <p:cNvGrpSpPr/>
            <p:nvPr/>
          </p:nvGrpSpPr>
          <p:grpSpPr>
            <a:xfrm>
              <a:off x="9124703" y="2396500"/>
              <a:ext cx="4192581" cy="654804"/>
              <a:chOff x="4152731" y="2404357"/>
              <a:chExt cx="4192581" cy="65480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2727B57-B509-4863-8A80-DBD863528CED}"/>
                  </a:ext>
                </a:extLst>
              </p:cNvPr>
              <p:cNvSpPr/>
              <p:nvPr/>
            </p:nvSpPr>
            <p:spPr>
              <a:xfrm>
                <a:off x="4152731" y="2463646"/>
                <a:ext cx="3924467" cy="536228"/>
              </a:xfrm>
              <a:prstGeom prst="rect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89A3863E-D63C-40BB-BA9B-CFE86100D9B5}"/>
                  </a:ext>
                </a:extLst>
              </p:cNvPr>
              <p:cNvSpPr/>
              <p:nvPr/>
            </p:nvSpPr>
            <p:spPr>
              <a:xfrm rot="7892203">
                <a:off x="7749796" y="2463645"/>
                <a:ext cx="654804" cy="5362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</p:grp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E68FDFAC-F12B-4B2F-8A4C-0B367D999BC2}"/>
                </a:ext>
              </a:extLst>
            </p:cNvPr>
            <p:cNvSpPr txBox="1"/>
            <p:nvPr/>
          </p:nvSpPr>
          <p:spPr>
            <a:xfrm>
              <a:off x="12760615" y="2523247"/>
              <a:ext cx="580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01</a:t>
              </a:r>
              <a:endParaRPr lang="fr-SN" sz="2000" dirty="0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935070DD-D4D9-4843-9325-E255A0027666}"/>
                </a:ext>
              </a:extLst>
            </p:cNvPr>
            <p:cNvSpPr txBox="1"/>
            <p:nvPr/>
          </p:nvSpPr>
          <p:spPr>
            <a:xfrm>
              <a:off x="9467850" y="2507858"/>
              <a:ext cx="3037622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300" dirty="0"/>
                <a:t>Présentation du projet</a:t>
              </a:r>
              <a:endParaRPr lang="fr-SN" sz="2300" dirty="0"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836B4412-1A15-4395-910A-EA6013E46E91}"/>
              </a:ext>
            </a:extLst>
          </p:cNvPr>
          <p:cNvGrpSpPr/>
          <p:nvPr/>
        </p:nvGrpSpPr>
        <p:grpSpPr>
          <a:xfrm>
            <a:off x="9088976" y="2687746"/>
            <a:ext cx="4342258" cy="654804"/>
            <a:chOff x="9148475" y="3336773"/>
            <a:chExt cx="4342258" cy="654804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D30A6284-9F9F-411C-A387-4AD0D9ED3E22}"/>
                </a:ext>
              </a:extLst>
            </p:cNvPr>
            <p:cNvGrpSpPr/>
            <p:nvPr/>
          </p:nvGrpSpPr>
          <p:grpSpPr>
            <a:xfrm>
              <a:off x="9148475" y="3336773"/>
              <a:ext cx="4192581" cy="654804"/>
              <a:chOff x="4152731" y="2404357"/>
              <a:chExt cx="4192581" cy="65480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34FD7B-36B3-4DAB-88DE-05336EFE1305}"/>
                  </a:ext>
                </a:extLst>
              </p:cNvPr>
              <p:cNvSpPr/>
              <p:nvPr/>
            </p:nvSpPr>
            <p:spPr>
              <a:xfrm>
                <a:off x="4152731" y="2463646"/>
                <a:ext cx="3924467" cy="536228"/>
              </a:xfrm>
              <a:prstGeom prst="rect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  <p:sp>
            <p:nvSpPr>
              <p:cNvPr id="17" name="Rectangle : coins arrondis 16">
                <a:extLst>
                  <a:ext uri="{FF2B5EF4-FFF2-40B4-BE49-F238E27FC236}">
                    <a16:creationId xmlns:a16="http://schemas.microsoft.com/office/drawing/2014/main" id="{457C8BE3-A991-4785-BA5C-25D99B6911C3}"/>
                  </a:ext>
                </a:extLst>
              </p:cNvPr>
              <p:cNvSpPr/>
              <p:nvPr/>
            </p:nvSpPr>
            <p:spPr>
              <a:xfrm rot="7892203">
                <a:off x="7749796" y="2463645"/>
                <a:ext cx="654804" cy="5362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</p:grp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57385694-9FD7-46CF-B82B-CF27CE6C2CD5}"/>
                </a:ext>
              </a:extLst>
            </p:cNvPr>
            <p:cNvSpPr txBox="1"/>
            <p:nvPr/>
          </p:nvSpPr>
          <p:spPr>
            <a:xfrm>
              <a:off x="12910293" y="3461215"/>
              <a:ext cx="580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02</a:t>
              </a:r>
              <a:endParaRPr lang="fr-SN" sz="2000" dirty="0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722AA736-571A-4EDA-8503-7A77B74AEBAD}"/>
                </a:ext>
              </a:extLst>
            </p:cNvPr>
            <p:cNvSpPr txBox="1"/>
            <p:nvPr/>
          </p:nvSpPr>
          <p:spPr>
            <a:xfrm>
              <a:off x="9686147" y="3442204"/>
              <a:ext cx="2971642" cy="461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300" dirty="0"/>
                <a:t>Design</a:t>
              </a:r>
              <a:endParaRPr lang="fr-SN" sz="2300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627EF176-E209-42AF-A744-F424CAEFFB54}"/>
              </a:ext>
            </a:extLst>
          </p:cNvPr>
          <p:cNvGrpSpPr/>
          <p:nvPr/>
        </p:nvGrpSpPr>
        <p:grpSpPr>
          <a:xfrm>
            <a:off x="9203732" y="3731375"/>
            <a:ext cx="4236791" cy="654804"/>
            <a:chOff x="9148475" y="4399308"/>
            <a:chExt cx="4236791" cy="654804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945E8F9E-7963-4180-9161-0D2C53A70886}"/>
                </a:ext>
              </a:extLst>
            </p:cNvPr>
            <p:cNvGrpSpPr/>
            <p:nvPr/>
          </p:nvGrpSpPr>
          <p:grpSpPr>
            <a:xfrm>
              <a:off x="9148475" y="4399308"/>
              <a:ext cx="4192581" cy="654804"/>
              <a:chOff x="4152731" y="2404357"/>
              <a:chExt cx="4192581" cy="654804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CC87D0-61AF-40D9-9B0E-10F85D1F0B84}"/>
                  </a:ext>
                </a:extLst>
              </p:cNvPr>
              <p:cNvSpPr/>
              <p:nvPr/>
            </p:nvSpPr>
            <p:spPr>
              <a:xfrm>
                <a:off x="4152731" y="2463646"/>
                <a:ext cx="3924467" cy="536228"/>
              </a:xfrm>
              <a:prstGeom prst="rect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  <p:sp>
            <p:nvSpPr>
              <p:cNvPr id="22" name="Rectangle : coins arrondis 21">
                <a:extLst>
                  <a:ext uri="{FF2B5EF4-FFF2-40B4-BE49-F238E27FC236}">
                    <a16:creationId xmlns:a16="http://schemas.microsoft.com/office/drawing/2014/main" id="{71FDC8AA-4E78-44E3-810E-D33CCD06DB7A}"/>
                  </a:ext>
                </a:extLst>
              </p:cNvPr>
              <p:cNvSpPr/>
              <p:nvPr/>
            </p:nvSpPr>
            <p:spPr>
              <a:xfrm rot="7892203">
                <a:off x="7749796" y="2463645"/>
                <a:ext cx="654804" cy="5362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</p:grp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8F069424-770D-4BF5-A5FC-94217C4260E1}"/>
                </a:ext>
              </a:extLst>
            </p:cNvPr>
            <p:cNvSpPr txBox="1"/>
            <p:nvPr/>
          </p:nvSpPr>
          <p:spPr>
            <a:xfrm>
              <a:off x="12877720" y="4566117"/>
              <a:ext cx="5075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03</a:t>
              </a:r>
              <a:endParaRPr lang="fr-SN" sz="2000" dirty="0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DE8BDE19-7676-4576-945D-40044E00469B}"/>
                </a:ext>
              </a:extLst>
            </p:cNvPr>
            <p:cNvSpPr txBox="1"/>
            <p:nvPr/>
          </p:nvSpPr>
          <p:spPr>
            <a:xfrm>
              <a:off x="9703258" y="4534076"/>
              <a:ext cx="2950226" cy="459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300" dirty="0"/>
                <a:t>Architecture</a:t>
              </a:r>
              <a:endParaRPr lang="fr-SN" sz="2300" dirty="0"/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94EA44A0-8AEA-46CF-8D89-5B4699652B35}"/>
              </a:ext>
            </a:extLst>
          </p:cNvPr>
          <p:cNvGrpSpPr/>
          <p:nvPr/>
        </p:nvGrpSpPr>
        <p:grpSpPr>
          <a:xfrm>
            <a:off x="9111899" y="4824366"/>
            <a:ext cx="4399274" cy="654804"/>
            <a:chOff x="9108088" y="5475987"/>
            <a:chExt cx="4399274" cy="654804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1988F1FE-5D49-499F-A8B7-7E8323964905}"/>
                </a:ext>
              </a:extLst>
            </p:cNvPr>
            <p:cNvGrpSpPr/>
            <p:nvPr/>
          </p:nvGrpSpPr>
          <p:grpSpPr>
            <a:xfrm>
              <a:off x="9108088" y="5475987"/>
              <a:ext cx="4192581" cy="654804"/>
              <a:chOff x="4152731" y="2404357"/>
              <a:chExt cx="4192581" cy="654804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70FE8B9-DE9C-4CA3-8006-E15D92183EBA}"/>
                  </a:ext>
                </a:extLst>
              </p:cNvPr>
              <p:cNvSpPr/>
              <p:nvPr/>
            </p:nvSpPr>
            <p:spPr>
              <a:xfrm>
                <a:off x="4152731" y="2463646"/>
                <a:ext cx="3924467" cy="536228"/>
              </a:xfrm>
              <a:prstGeom prst="rect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  <p:sp>
            <p:nvSpPr>
              <p:cNvPr id="30" name="Rectangle : coins arrondis 29">
                <a:extLst>
                  <a:ext uri="{FF2B5EF4-FFF2-40B4-BE49-F238E27FC236}">
                    <a16:creationId xmlns:a16="http://schemas.microsoft.com/office/drawing/2014/main" id="{1BC7F911-6FA0-402D-A4F2-8B7660AD3AE2}"/>
                  </a:ext>
                </a:extLst>
              </p:cNvPr>
              <p:cNvSpPr/>
              <p:nvPr/>
            </p:nvSpPr>
            <p:spPr>
              <a:xfrm rot="7892203">
                <a:off x="7749796" y="2463645"/>
                <a:ext cx="654804" cy="5362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</p:grp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AC72D1DC-4E3A-4667-9BE5-D7EB020C5CA9}"/>
                </a:ext>
              </a:extLst>
            </p:cNvPr>
            <p:cNvSpPr txBox="1"/>
            <p:nvPr/>
          </p:nvSpPr>
          <p:spPr>
            <a:xfrm>
              <a:off x="12834580" y="5649923"/>
              <a:ext cx="672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04</a:t>
              </a:r>
              <a:endParaRPr lang="fr-SN" sz="2000" dirty="0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B080CBBB-67C9-439B-AC26-4EB618684ED9}"/>
                </a:ext>
              </a:extLst>
            </p:cNvPr>
            <p:cNvSpPr txBox="1"/>
            <p:nvPr/>
          </p:nvSpPr>
          <p:spPr>
            <a:xfrm>
              <a:off x="9544536" y="5506137"/>
              <a:ext cx="3019178" cy="445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300" dirty="0"/>
                <a:t>Développement</a:t>
              </a:r>
              <a:endParaRPr lang="fr-SN" sz="2300" dirty="0"/>
            </a:p>
          </p:txBody>
        </p:sp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D1F790A6-D168-476C-8646-EC6D37A66021}"/>
              </a:ext>
            </a:extLst>
          </p:cNvPr>
          <p:cNvGrpSpPr/>
          <p:nvPr/>
        </p:nvGrpSpPr>
        <p:grpSpPr>
          <a:xfrm>
            <a:off x="8877300" y="7887569"/>
            <a:ext cx="4676511" cy="695825"/>
            <a:chOff x="9024578" y="8500588"/>
            <a:chExt cx="4431064" cy="623806"/>
          </a:xfrm>
        </p:grpSpPr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82A8EF47-5EBF-4A11-8574-7904CB076EEC}"/>
                </a:ext>
              </a:extLst>
            </p:cNvPr>
            <p:cNvGrpSpPr/>
            <p:nvPr/>
          </p:nvGrpSpPr>
          <p:grpSpPr>
            <a:xfrm>
              <a:off x="9024578" y="8500588"/>
              <a:ext cx="4042903" cy="623806"/>
              <a:chOff x="4152731" y="2404357"/>
              <a:chExt cx="4192581" cy="654804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67AE846-D2EE-45B7-B23D-332E816E4011}"/>
                  </a:ext>
                </a:extLst>
              </p:cNvPr>
              <p:cNvSpPr/>
              <p:nvPr/>
            </p:nvSpPr>
            <p:spPr>
              <a:xfrm>
                <a:off x="4152731" y="2463646"/>
                <a:ext cx="3924467" cy="536228"/>
              </a:xfrm>
              <a:prstGeom prst="rect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  <p:sp>
            <p:nvSpPr>
              <p:cNvPr id="45" name="Rectangle : coins arrondis 44">
                <a:extLst>
                  <a:ext uri="{FF2B5EF4-FFF2-40B4-BE49-F238E27FC236}">
                    <a16:creationId xmlns:a16="http://schemas.microsoft.com/office/drawing/2014/main" id="{7338A2A1-1A6B-4DCD-B164-E8A670900350}"/>
                  </a:ext>
                </a:extLst>
              </p:cNvPr>
              <p:cNvSpPr/>
              <p:nvPr/>
            </p:nvSpPr>
            <p:spPr>
              <a:xfrm rot="7892203">
                <a:off x="7749796" y="2463645"/>
                <a:ext cx="654804" cy="5362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</p:grp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6DE2B4E0-F083-4189-98E5-7C60D61B6A20}"/>
                </a:ext>
              </a:extLst>
            </p:cNvPr>
            <p:cNvSpPr txBox="1"/>
            <p:nvPr/>
          </p:nvSpPr>
          <p:spPr>
            <a:xfrm>
              <a:off x="9300088" y="8527733"/>
              <a:ext cx="315872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300" dirty="0"/>
                <a:t>Démonstration</a:t>
              </a:r>
              <a:endParaRPr lang="fr-SN" sz="2300" dirty="0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E86EA737-7C8B-4BA3-8EEE-807CA208482E}"/>
                </a:ext>
              </a:extLst>
            </p:cNvPr>
            <p:cNvSpPr txBox="1"/>
            <p:nvPr/>
          </p:nvSpPr>
          <p:spPr>
            <a:xfrm>
              <a:off x="12648078" y="8627842"/>
              <a:ext cx="8075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07</a:t>
              </a:r>
              <a:endParaRPr lang="fr-SN" sz="2000" dirty="0"/>
            </a:p>
          </p:txBody>
        </p:sp>
      </p:grp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2657511D-F3ED-453E-8744-D20F143CA6FF}"/>
              </a:ext>
            </a:extLst>
          </p:cNvPr>
          <p:cNvGrpSpPr/>
          <p:nvPr/>
        </p:nvGrpSpPr>
        <p:grpSpPr>
          <a:xfrm>
            <a:off x="9006971" y="8910607"/>
            <a:ext cx="4317988" cy="739086"/>
            <a:chOff x="8975144" y="9600244"/>
            <a:chExt cx="4317988" cy="739086"/>
          </a:xfrm>
        </p:grpSpPr>
        <p:grpSp>
          <p:nvGrpSpPr>
            <p:cNvPr id="76" name="Groupe 75">
              <a:extLst>
                <a:ext uri="{FF2B5EF4-FFF2-40B4-BE49-F238E27FC236}">
                  <a16:creationId xmlns:a16="http://schemas.microsoft.com/office/drawing/2014/main" id="{69F3EFDA-CD35-46B7-989B-FCDDA0A316A9}"/>
                </a:ext>
              </a:extLst>
            </p:cNvPr>
            <p:cNvGrpSpPr/>
            <p:nvPr/>
          </p:nvGrpSpPr>
          <p:grpSpPr>
            <a:xfrm>
              <a:off x="8975144" y="9600244"/>
              <a:ext cx="4152370" cy="739086"/>
              <a:chOff x="4152731" y="2404357"/>
              <a:chExt cx="4192581" cy="654804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CB73B22-0204-4031-BD5B-2097413C5E12}"/>
                  </a:ext>
                </a:extLst>
              </p:cNvPr>
              <p:cNvSpPr/>
              <p:nvPr/>
            </p:nvSpPr>
            <p:spPr>
              <a:xfrm>
                <a:off x="4152731" y="2463646"/>
                <a:ext cx="3924467" cy="536228"/>
              </a:xfrm>
              <a:prstGeom prst="rect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  <p:sp>
            <p:nvSpPr>
              <p:cNvPr id="78" name="Rectangle : coins arrondis 77">
                <a:extLst>
                  <a:ext uri="{FF2B5EF4-FFF2-40B4-BE49-F238E27FC236}">
                    <a16:creationId xmlns:a16="http://schemas.microsoft.com/office/drawing/2014/main" id="{D740B39C-699A-4BC0-9F24-FF37A8756BEE}"/>
                  </a:ext>
                </a:extLst>
              </p:cNvPr>
              <p:cNvSpPr/>
              <p:nvPr/>
            </p:nvSpPr>
            <p:spPr>
              <a:xfrm rot="7892203">
                <a:off x="7749796" y="2463645"/>
                <a:ext cx="654804" cy="5362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</p:grpSp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064AC6E0-A2F8-49A5-9D2F-CBFCB77B4B45}"/>
                </a:ext>
              </a:extLst>
            </p:cNvPr>
            <p:cNvSpPr txBox="1"/>
            <p:nvPr/>
          </p:nvSpPr>
          <p:spPr>
            <a:xfrm>
              <a:off x="9200109" y="9681521"/>
              <a:ext cx="299308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300" dirty="0"/>
                <a:t>conclusion</a:t>
              </a:r>
              <a:endParaRPr lang="fr-SN" sz="2300" dirty="0"/>
            </a:p>
          </p:txBody>
        </p: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211EE19D-B99D-4F2A-9F28-75D7599A14F7}"/>
                </a:ext>
              </a:extLst>
            </p:cNvPr>
            <p:cNvSpPr txBox="1"/>
            <p:nvPr/>
          </p:nvSpPr>
          <p:spPr>
            <a:xfrm>
              <a:off x="12485568" y="9883597"/>
              <a:ext cx="8075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08</a:t>
              </a:r>
              <a:endParaRPr lang="fr-SN" sz="2000" dirty="0"/>
            </a:p>
          </p:txBody>
        </p:sp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218B3294-811B-47BA-830E-AD5E09C76CFE}"/>
              </a:ext>
            </a:extLst>
          </p:cNvPr>
          <p:cNvGrpSpPr/>
          <p:nvPr/>
        </p:nvGrpSpPr>
        <p:grpSpPr>
          <a:xfrm>
            <a:off x="8979931" y="9828236"/>
            <a:ext cx="5014600" cy="796845"/>
            <a:chOff x="14176061" y="5714454"/>
            <a:chExt cx="4883084" cy="845714"/>
          </a:xfrm>
        </p:grpSpPr>
        <p:grpSp>
          <p:nvGrpSpPr>
            <p:cNvPr id="58" name="Groupe 57">
              <a:extLst>
                <a:ext uri="{FF2B5EF4-FFF2-40B4-BE49-F238E27FC236}">
                  <a16:creationId xmlns:a16="http://schemas.microsoft.com/office/drawing/2014/main" id="{DAA3309A-0E46-437D-9D2F-561AA4DEE569}"/>
                </a:ext>
              </a:extLst>
            </p:cNvPr>
            <p:cNvGrpSpPr/>
            <p:nvPr/>
          </p:nvGrpSpPr>
          <p:grpSpPr>
            <a:xfrm>
              <a:off x="14176061" y="5714454"/>
              <a:ext cx="4432622" cy="845714"/>
              <a:chOff x="4152731" y="2404357"/>
              <a:chExt cx="4192581" cy="654804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53B8057-1E77-46C4-977C-C2392F6DFD53}"/>
                  </a:ext>
                </a:extLst>
              </p:cNvPr>
              <p:cNvSpPr/>
              <p:nvPr/>
            </p:nvSpPr>
            <p:spPr>
              <a:xfrm>
                <a:off x="4152731" y="2463646"/>
                <a:ext cx="3924467" cy="536228"/>
              </a:xfrm>
              <a:prstGeom prst="rect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  <p:sp>
            <p:nvSpPr>
              <p:cNvPr id="60" name="Rectangle : coins arrondis 59">
                <a:extLst>
                  <a:ext uri="{FF2B5EF4-FFF2-40B4-BE49-F238E27FC236}">
                    <a16:creationId xmlns:a16="http://schemas.microsoft.com/office/drawing/2014/main" id="{E1D3C93E-12B2-4533-82A9-0CC4E7BB2781}"/>
                  </a:ext>
                </a:extLst>
              </p:cNvPr>
              <p:cNvSpPr/>
              <p:nvPr/>
            </p:nvSpPr>
            <p:spPr>
              <a:xfrm rot="7892203">
                <a:off x="7749796" y="2463645"/>
                <a:ext cx="654804" cy="5362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 dirty="0"/>
              </a:p>
            </p:txBody>
          </p:sp>
        </p:grpSp>
        <p:sp>
          <p:nvSpPr>
            <p:cNvPr id="82" name="ZoneTexte 81">
              <a:extLst>
                <a:ext uri="{FF2B5EF4-FFF2-40B4-BE49-F238E27FC236}">
                  <a16:creationId xmlns:a16="http://schemas.microsoft.com/office/drawing/2014/main" id="{F3DF64CB-80D1-41EE-9FB3-8AD480F1FE02}"/>
                </a:ext>
              </a:extLst>
            </p:cNvPr>
            <p:cNvSpPr txBox="1"/>
            <p:nvPr/>
          </p:nvSpPr>
          <p:spPr>
            <a:xfrm>
              <a:off x="14567358" y="5914172"/>
              <a:ext cx="3002957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Perception</a:t>
              </a:r>
              <a:endParaRPr lang="fr-SN" sz="2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ZoneTexte 84">
              <a:extLst>
                <a:ext uri="{FF2B5EF4-FFF2-40B4-BE49-F238E27FC236}">
                  <a16:creationId xmlns:a16="http://schemas.microsoft.com/office/drawing/2014/main" id="{50F7268E-9E3E-4453-94B0-A39BD358BBB3}"/>
                </a:ext>
              </a:extLst>
            </p:cNvPr>
            <p:cNvSpPr txBox="1"/>
            <p:nvPr/>
          </p:nvSpPr>
          <p:spPr>
            <a:xfrm>
              <a:off x="18078450" y="5860868"/>
              <a:ext cx="980695" cy="383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09</a:t>
              </a:r>
              <a:endParaRPr lang="fr-SN" dirty="0"/>
            </a:p>
          </p:txBody>
        </p:sp>
      </p:grpSp>
      <p:grpSp>
        <p:nvGrpSpPr>
          <p:cNvPr id="91" name="Groupe 90">
            <a:extLst>
              <a:ext uri="{FF2B5EF4-FFF2-40B4-BE49-F238E27FC236}">
                <a16:creationId xmlns:a16="http://schemas.microsoft.com/office/drawing/2014/main" id="{B548DBBE-F53C-4664-AD65-3879E6C36F29}"/>
              </a:ext>
            </a:extLst>
          </p:cNvPr>
          <p:cNvGrpSpPr/>
          <p:nvPr/>
        </p:nvGrpSpPr>
        <p:grpSpPr>
          <a:xfrm>
            <a:off x="9024578" y="5858018"/>
            <a:ext cx="4640367" cy="715503"/>
            <a:chOff x="9024578" y="8500588"/>
            <a:chExt cx="4431064" cy="623806"/>
          </a:xfrm>
        </p:grpSpPr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38C3B54B-F0F1-4DE9-8A75-9E3A66EDEC68}"/>
                </a:ext>
              </a:extLst>
            </p:cNvPr>
            <p:cNvGrpSpPr/>
            <p:nvPr/>
          </p:nvGrpSpPr>
          <p:grpSpPr>
            <a:xfrm>
              <a:off x="9024578" y="8500588"/>
              <a:ext cx="4042903" cy="623806"/>
              <a:chOff x="4152731" y="2404357"/>
              <a:chExt cx="4192581" cy="654804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87494624-C032-4007-A91A-EC1BCE8B9FBA}"/>
                  </a:ext>
                </a:extLst>
              </p:cNvPr>
              <p:cNvSpPr/>
              <p:nvPr/>
            </p:nvSpPr>
            <p:spPr>
              <a:xfrm>
                <a:off x="4152731" y="2463646"/>
                <a:ext cx="3924467" cy="536228"/>
              </a:xfrm>
              <a:prstGeom prst="rect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  <p:sp>
            <p:nvSpPr>
              <p:cNvPr id="96" name="Rectangle : coins arrondis 95">
                <a:extLst>
                  <a:ext uri="{FF2B5EF4-FFF2-40B4-BE49-F238E27FC236}">
                    <a16:creationId xmlns:a16="http://schemas.microsoft.com/office/drawing/2014/main" id="{EF990137-099D-4DDE-B65A-B005B29D0AF0}"/>
                  </a:ext>
                </a:extLst>
              </p:cNvPr>
              <p:cNvSpPr/>
              <p:nvPr/>
            </p:nvSpPr>
            <p:spPr>
              <a:xfrm rot="7892203">
                <a:off x="7749796" y="2463645"/>
                <a:ext cx="654804" cy="5362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</p:grp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AB3D60B2-2B1F-4766-942D-725CBC165695}"/>
                </a:ext>
              </a:extLst>
            </p:cNvPr>
            <p:cNvSpPr txBox="1"/>
            <p:nvPr/>
          </p:nvSpPr>
          <p:spPr>
            <a:xfrm>
              <a:off x="9300970" y="8611116"/>
              <a:ext cx="3158726" cy="302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300" dirty="0"/>
                <a:t>GitHub</a:t>
              </a:r>
              <a:endParaRPr lang="fr-SN" sz="2300" dirty="0"/>
            </a:p>
          </p:txBody>
        </p:sp>
        <p:sp>
          <p:nvSpPr>
            <p:cNvPr id="94" name="ZoneTexte 93">
              <a:extLst>
                <a:ext uri="{FF2B5EF4-FFF2-40B4-BE49-F238E27FC236}">
                  <a16:creationId xmlns:a16="http://schemas.microsoft.com/office/drawing/2014/main" id="{F09289AE-CCE0-43CA-99F5-D1380DCD564E}"/>
                </a:ext>
              </a:extLst>
            </p:cNvPr>
            <p:cNvSpPr txBox="1"/>
            <p:nvPr/>
          </p:nvSpPr>
          <p:spPr>
            <a:xfrm>
              <a:off x="12648078" y="8627842"/>
              <a:ext cx="807564" cy="271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05</a:t>
              </a:r>
              <a:endParaRPr lang="fr-SN" sz="2000" dirty="0"/>
            </a:p>
          </p:txBody>
        </p:sp>
      </p:grp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41C08CEE-22FD-46B4-87C1-7BB4CFBE2145}"/>
              </a:ext>
            </a:extLst>
          </p:cNvPr>
          <p:cNvGrpSpPr/>
          <p:nvPr/>
        </p:nvGrpSpPr>
        <p:grpSpPr>
          <a:xfrm>
            <a:off x="8979931" y="6925575"/>
            <a:ext cx="4640367" cy="715503"/>
            <a:chOff x="9024578" y="8500588"/>
            <a:chExt cx="4431064" cy="623806"/>
          </a:xfrm>
        </p:grpSpPr>
        <p:grpSp>
          <p:nvGrpSpPr>
            <p:cNvPr id="98" name="Groupe 97">
              <a:extLst>
                <a:ext uri="{FF2B5EF4-FFF2-40B4-BE49-F238E27FC236}">
                  <a16:creationId xmlns:a16="http://schemas.microsoft.com/office/drawing/2014/main" id="{58327201-7F78-4214-82A7-5873933B23CE}"/>
                </a:ext>
              </a:extLst>
            </p:cNvPr>
            <p:cNvGrpSpPr/>
            <p:nvPr/>
          </p:nvGrpSpPr>
          <p:grpSpPr>
            <a:xfrm>
              <a:off x="9024578" y="8500588"/>
              <a:ext cx="4042903" cy="623806"/>
              <a:chOff x="4152731" y="2404357"/>
              <a:chExt cx="4192581" cy="654804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67CCF8C3-FC44-422A-83F6-4C84A552BCA1}"/>
                  </a:ext>
                </a:extLst>
              </p:cNvPr>
              <p:cNvSpPr/>
              <p:nvPr/>
            </p:nvSpPr>
            <p:spPr>
              <a:xfrm>
                <a:off x="4152731" y="2463646"/>
                <a:ext cx="3924467" cy="536228"/>
              </a:xfrm>
              <a:prstGeom prst="rect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  <p:sp>
            <p:nvSpPr>
              <p:cNvPr id="102" name="Rectangle : coins arrondis 101">
                <a:extLst>
                  <a:ext uri="{FF2B5EF4-FFF2-40B4-BE49-F238E27FC236}">
                    <a16:creationId xmlns:a16="http://schemas.microsoft.com/office/drawing/2014/main" id="{8E854FA9-955F-45C7-B597-DA0C4B944A4E}"/>
                  </a:ext>
                </a:extLst>
              </p:cNvPr>
              <p:cNvSpPr/>
              <p:nvPr/>
            </p:nvSpPr>
            <p:spPr>
              <a:xfrm rot="7892203">
                <a:off x="7749796" y="2463645"/>
                <a:ext cx="654804" cy="5362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SN"/>
              </a:p>
            </p:txBody>
          </p:sp>
        </p:grpSp>
        <p:sp>
          <p:nvSpPr>
            <p:cNvPr id="99" name="ZoneTexte 98">
              <a:extLst>
                <a:ext uri="{FF2B5EF4-FFF2-40B4-BE49-F238E27FC236}">
                  <a16:creationId xmlns:a16="http://schemas.microsoft.com/office/drawing/2014/main" id="{D37C5D36-B172-4B5C-A9B6-F9173F06F739}"/>
                </a:ext>
              </a:extLst>
            </p:cNvPr>
            <p:cNvSpPr txBox="1"/>
            <p:nvPr/>
          </p:nvSpPr>
          <p:spPr>
            <a:xfrm>
              <a:off x="9300970" y="8611116"/>
              <a:ext cx="3158726" cy="389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300" dirty="0"/>
                <a:t>Difficultés</a:t>
              </a:r>
              <a:endParaRPr lang="fr-SN" sz="2300" dirty="0"/>
            </a:p>
          </p:txBody>
        </p:sp>
        <p:sp>
          <p:nvSpPr>
            <p:cNvPr id="100" name="ZoneTexte 99">
              <a:extLst>
                <a:ext uri="{FF2B5EF4-FFF2-40B4-BE49-F238E27FC236}">
                  <a16:creationId xmlns:a16="http://schemas.microsoft.com/office/drawing/2014/main" id="{9E375F2A-65B5-4266-9299-EBF1F960D0F7}"/>
                </a:ext>
              </a:extLst>
            </p:cNvPr>
            <p:cNvSpPr txBox="1"/>
            <p:nvPr/>
          </p:nvSpPr>
          <p:spPr>
            <a:xfrm>
              <a:off x="12648078" y="8627842"/>
              <a:ext cx="807564" cy="348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06</a:t>
              </a:r>
              <a:endParaRPr lang="fr-SN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228876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75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AA97931-F0D8-4AE9-8452-8FFA65D885F3}"/>
              </a:ext>
            </a:extLst>
          </p:cNvPr>
          <p:cNvSpPr txBox="1"/>
          <p:nvPr/>
        </p:nvSpPr>
        <p:spPr>
          <a:xfrm>
            <a:off x="6457381" y="192505"/>
            <a:ext cx="6230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01.Presentation du projet</a:t>
            </a:r>
            <a:endParaRPr lang="fr-SN" sz="4000" u="sng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D28A4472-A193-436E-A56B-CA09943AEB91}"/>
              </a:ext>
            </a:extLst>
          </p:cNvPr>
          <p:cNvGrpSpPr/>
          <p:nvPr/>
        </p:nvGrpSpPr>
        <p:grpSpPr>
          <a:xfrm>
            <a:off x="5154217" y="1323518"/>
            <a:ext cx="3515394" cy="1957137"/>
            <a:chOff x="240631" y="1119187"/>
            <a:chExt cx="4090737" cy="195713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" name="Phylactère : pensées 5">
              <a:extLst>
                <a:ext uri="{FF2B5EF4-FFF2-40B4-BE49-F238E27FC236}">
                  <a16:creationId xmlns:a16="http://schemas.microsoft.com/office/drawing/2014/main" id="{8DA8605B-7C61-4A09-AB21-D1963C2F2DD8}"/>
                </a:ext>
              </a:extLst>
            </p:cNvPr>
            <p:cNvSpPr/>
            <p:nvPr/>
          </p:nvSpPr>
          <p:spPr>
            <a:xfrm>
              <a:off x="240631" y="1119187"/>
              <a:ext cx="4090737" cy="1957137"/>
            </a:xfrm>
            <a:prstGeom prst="cloudCallout">
              <a:avLst/>
            </a:prstGeom>
            <a:grpFill/>
            <a:ln>
              <a:solidFill>
                <a:srgbClr val="002060"/>
              </a:solidFill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C5E67246-8FD8-4A59-A0B1-6298ED3A5ECA}"/>
                </a:ext>
              </a:extLst>
            </p:cNvPr>
            <p:cNvSpPr txBox="1"/>
            <p:nvPr/>
          </p:nvSpPr>
          <p:spPr>
            <a:xfrm>
              <a:off x="1026695" y="1876926"/>
              <a:ext cx="2518610" cy="584775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r>
                <a:rPr lang="fr-FR" sz="3200" b="1" dirty="0">
                  <a:solidFill>
                    <a:schemeClr val="tx2">
                      <a:lumMod val="75000"/>
                    </a:schemeClr>
                  </a:solidFill>
                </a:rPr>
                <a:t>CONTEXT</a:t>
              </a:r>
              <a:endParaRPr lang="fr-SN" sz="32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10" name="ZoneTexte 9">
            <a:extLst>
              <a:ext uri="{FF2B5EF4-FFF2-40B4-BE49-F238E27FC236}">
                <a16:creationId xmlns:a16="http://schemas.microsoft.com/office/drawing/2014/main" id="{2097C1A2-8509-4676-87FC-2A42C6790528}"/>
              </a:ext>
            </a:extLst>
          </p:cNvPr>
          <p:cNvSpPr txBox="1"/>
          <p:nvPr/>
        </p:nvSpPr>
        <p:spPr>
          <a:xfrm>
            <a:off x="4973637" y="3409466"/>
            <a:ext cx="72831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Aujourd'hui, de nombreuses entreprises recherchent des freelances pour réaliser des missions spécifiques. Cependant, il n'existe pas toujours de plateforme simple permettant de mettre facilement en relation les clients et les professionnels.</a:t>
            </a:r>
            <a:endParaRPr lang="fr-S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3AE3FD7-79C5-4A44-B59B-AC8FAC37C699}"/>
              </a:ext>
            </a:extLst>
          </p:cNvPr>
          <p:cNvGrpSpPr/>
          <p:nvPr/>
        </p:nvGrpSpPr>
        <p:grpSpPr>
          <a:xfrm>
            <a:off x="4973637" y="5399881"/>
            <a:ext cx="3347049" cy="1957137"/>
            <a:chOff x="254501" y="1190744"/>
            <a:chExt cx="4090737" cy="195713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" name="Phylactère : pensées 11">
              <a:extLst>
                <a:ext uri="{FF2B5EF4-FFF2-40B4-BE49-F238E27FC236}">
                  <a16:creationId xmlns:a16="http://schemas.microsoft.com/office/drawing/2014/main" id="{8F8560AF-F956-46C2-9F9C-44C495807862}"/>
                </a:ext>
              </a:extLst>
            </p:cNvPr>
            <p:cNvSpPr/>
            <p:nvPr/>
          </p:nvSpPr>
          <p:spPr>
            <a:xfrm>
              <a:off x="254501" y="1190744"/>
              <a:ext cx="4090737" cy="1957137"/>
            </a:xfrm>
            <a:prstGeom prst="cloudCallout">
              <a:avLst/>
            </a:prstGeom>
            <a:grpFill/>
            <a:ln>
              <a:solidFill>
                <a:srgbClr val="002060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8B957A68-398F-4265-A5F2-A55BFC0FC101}"/>
                </a:ext>
              </a:extLst>
            </p:cNvPr>
            <p:cNvSpPr txBox="1"/>
            <p:nvPr/>
          </p:nvSpPr>
          <p:spPr>
            <a:xfrm>
              <a:off x="1026695" y="1876926"/>
              <a:ext cx="2518610" cy="584775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rtlCol="0">
              <a:spAutoFit/>
            </a:bodyPr>
            <a:lstStyle/>
            <a:p>
              <a:r>
                <a:rPr lang="fr-FR" sz="3200" b="1" dirty="0">
                  <a:solidFill>
                    <a:schemeClr val="tx2">
                      <a:lumMod val="75000"/>
                    </a:schemeClr>
                  </a:solidFill>
                </a:rPr>
                <a:t>OBJECTIF</a:t>
              </a:r>
              <a:endParaRPr lang="fr-SN" sz="32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6EE1DFC3-89E4-492D-BCC4-E69BD1FA72AA}"/>
              </a:ext>
            </a:extLst>
          </p:cNvPr>
          <p:cNvSpPr txBox="1"/>
          <p:nvPr/>
        </p:nvSpPr>
        <p:spPr>
          <a:xfrm>
            <a:off x="5154217" y="7434406"/>
            <a:ext cx="4589859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Développer une plateforme web moderne permettant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présentation de profils freelances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consultation des services proposés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prise de contact avec les freelances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navigation simple et intuitive</a:t>
            </a:r>
          </a:p>
          <a:p>
            <a:endParaRPr lang="fr-SN" sz="2300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94C7D4FC-DC3A-4E11-8881-565C9D67FC86}"/>
              </a:ext>
            </a:extLst>
          </p:cNvPr>
          <p:cNvGrpSpPr/>
          <p:nvPr/>
        </p:nvGrpSpPr>
        <p:grpSpPr>
          <a:xfrm>
            <a:off x="10046604" y="5348458"/>
            <a:ext cx="3515394" cy="1957138"/>
            <a:chOff x="254501" y="1190743"/>
            <a:chExt cx="4090737" cy="1957138"/>
          </a:xfrm>
        </p:grpSpPr>
        <p:sp>
          <p:nvSpPr>
            <p:cNvPr id="16" name="Phylactère : pensées 15">
              <a:extLst>
                <a:ext uri="{FF2B5EF4-FFF2-40B4-BE49-F238E27FC236}">
                  <a16:creationId xmlns:a16="http://schemas.microsoft.com/office/drawing/2014/main" id="{475F4080-9071-4845-A7CC-A9FAEC73A325}"/>
                </a:ext>
              </a:extLst>
            </p:cNvPr>
            <p:cNvSpPr/>
            <p:nvPr/>
          </p:nvSpPr>
          <p:spPr>
            <a:xfrm>
              <a:off x="254501" y="1190744"/>
              <a:ext cx="4090737" cy="1957137"/>
            </a:xfrm>
            <a:prstGeom prst="cloudCallou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2060"/>
              </a:solidFill>
            </a:ln>
            <a:scene3d>
              <a:camera prst="perspectiveBelow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92A53C8E-160F-4CAE-837F-0EC43504DF7A}"/>
                </a:ext>
              </a:extLst>
            </p:cNvPr>
            <p:cNvSpPr txBox="1"/>
            <p:nvPr/>
          </p:nvSpPr>
          <p:spPr>
            <a:xfrm>
              <a:off x="1026695" y="1876926"/>
              <a:ext cx="2901065" cy="58477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square" rtlCol="0">
              <a:spAutoFit/>
            </a:bodyPr>
            <a:lstStyle/>
            <a:p>
              <a:r>
                <a:rPr lang="fr-FR" sz="3200" b="1" dirty="0">
                  <a:solidFill>
                    <a:schemeClr val="tx2">
                      <a:lumMod val="75000"/>
                    </a:schemeClr>
                  </a:solidFill>
                </a:rPr>
                <a:t>PUBLIC CIBLE</a:t>
              </a:r>
              <a:endParaRPr lang="fr-SN" sz="32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19" name="Phylactère : pensées 18">
              <a:extLst>
                <a:ext uri="{FF2B5EF4-FFF2-40B4-BE49-F238E27FC236}">
                  <a16:creationId xmlns:a16="http://schemas.microsoft.com/office/drawing/2014/main" id="{BC71900B-5B99-4F37-A172-E030D10285F2}"/>
                </a:ext>
              </a:extLst>
            </p:cNvPr>
            <p:cNvSpPr/>
            <p:nvPr/>
          </p:nvSpPr>
          <p:spPr>
            <a:xfrm>
              <a:off x="254501" y="1190743"/>
              <a:ext cx="4090737" cy="1957137"/>
            </a:xfrm>
            <a:prstGeom prst="cloudCallou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2060"/>
              </a:solidFill>
            </a:ln>
            <a:scene3d>
              <a:camera prst="perspectiveBelow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3244DBF9-8D2B-4B56-A4BA-79F4D11F5126}"/>
                </a:ext>
              </a:extLst>
            </p:cNvPr>
            <p:cNvSpPr txBox="1"/>
            <p:nvPr/>
          </p:nvSpPr>
          <p:spPr>
            <a:xfrm>
              <a:off x="1026696" y="1876925"/>
              <a:ext cx="2901065" cy="58477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square" rtlCol="0">
              <a:spAutoFit/>
            </a:bodyPr>
            <a:lstStyle/>
            <a:p>
              <a:r>
                <a:rPr lang="fr-FR" sz="3200" b="1" dirty="0">
                  <a:solidFill>
                    <a:schemeClr val="tx2">
                      <a:lumMod val="75000"/>
                    </a:schemeClr>
                  </a:solidFill>
                </a:rPr>
                <a:t>PUBLIC CIBLE</a:t>
              </a:r>
              <a:endParaRPr lang="fr-SN" sz="32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18" name="ZoneTexte 17">
            <a:extLst>
              <a:ext uri="{FF2B5EF4-FFF2-40B4-BE49-F238E27FC236}">
                <a16:creationId xmlns:a16="http://schemas.microsoft.com/office/drawing/2014/main" id="{EC8CE410-AE88-4266-8300-E91C4F6843E8}"/>
              </a:ext>
            </a:extLst>
          </p:cNvPr>
          <p:cNvSpPr txBox="1"/>
          <p:nvPr/>
        </p:nvSpPr>
        <p:spPr>
          <a:xfrm>
            <a:off x="10046604" y="7911623"/>
            <a:ext cx="399840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Entreprises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Travailleurs indépendants 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3111090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e 29">
            <a:extLst>
              <a:ext uri="{FF2B5EF4-FFF2-40B4-BE49-F238E27FC236}">
                <a16:creationId xmlns:a16="http://schemas.microsoft.com/office/drawing/2014/main" id="{CBD172FF-D599-47D9-A4EC-4923216992C9}"/>
              </a:ext>
            </a:extLst>
          </p:cNvPr>
          <p:cNvGrpSpPr/>
          <p:nvPr/>
        </p:nvGrpSpPr>
        <p:grpSpPr>
          <a:xfrm>
            <a:off x="9957368" y="2898475"/>
            <a:ext cx="3679526" cy="5555412"/>
            <a:chOff x="4914720" y="1207698"/>
            <a:chExt cx="3679526" cy="5555412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658E5DE9-9219-44A6-AACD-595435AA20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662" t="16207" r="-429"/>
            <a:stretch/>
          </p:blipFill>
          <p:spPr>
            <a:xfrm>
              <a:off x="4914720" y="1207699"/>
              <a:ext cx="3679526" cy="5555411"/>
            </a:xfrm>
            <a:prstGeom prst="rect">
              <a:avLst/>
            </a:prstGeom>
            <a:ln>
              <a:solidFill>
                <a:srgbClr val="7030A0"/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  <a:scene3d>
              <a:camera prst="isometricOffAxis1Right"/>
              <a:lightRig rig="threePt" dir="t"/>
            </a:scene3d>
          </p:spPr>
        </p:pic>
        <p:sp>
          <p:nvSpPr>
            <p:cNvPr id="28" name="Rectangle : en biseau 27">
              <a:extLst>
                <a:ext uri="{FF2B5EF4-FFF2-40B4-BE49-F238E27FC236}">
                  <a16:creationId xmlns:a16="http://schemas.microsoft.com/office/drawing/2014/main" id="{D9831F27-191B-4F83-86AD-66BF4456372F}"/>
                </a:ext>
              </a:extLst>
            </p:cNvPr>
            <p:cNvSpPr/>
            <p:nvPr/>
          </p:nvSpPr>
          <p:spPr>
            <a:xfrm>
              <a:off x="5037826" y="1207698"/>
              <a:ext cx="3433314" cy="5555412"/>
            </a:xfrm>
            <a:prstGeom prst="bevel">
              <a:avLst/>
            </a:prstGeom>
            <a:noFill/>
            <a:ln w="57150"/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 dirty="0"/>
            </a:p>
          </p:txBody>
        </p: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92DFE4E1-C7F8-44ED-A6D7-513A61F14D41}"/>
              </a:ext>
            </a:extLst>
          </p:cNvPr>
          <p:cNvSpPr txBox="1"/>
          <p:nvPr/>
        </p:nvSpPr>
        <p:spPr>
          <a:xfrm>
            <a:off x="6421438" y="21056"/>
            <a:ext cx="6266280" cy="702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02.Design</a:t>
            </a:r>
            <a:endParaRPr lang="fr-SN" sz="4000" u="sng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FF34FF5-AC2E-42BB-9E9D-D75B3525FBD3}"/>
              </a:ext>
            </a:extLst>
          </p:cNvPr>
          <p:cNvSpPr txBox="1"/>
          <p:nvPr/>
        </p:nvSpPr>
        <p:spPr>
          <a:xfrm>
            <a:off x="5566372" y="2053489"/>
            <a:ext cx="5003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PALETTE</a:t>
            </a:r>
            <a:r>
              <a:rPr lang="fr-FR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COULEUR</a:t>
            </a:r>
            <a:endParaRPr lang="fr-SN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B85BC4B-D040-4FC9-A59E-7DC5CDC449E0}"/>
              </a:ext>
            </a:extLst>
          </p:cNvPr>
          <p:cNvSpPr txBox="1"/>
          <p:nvPr/>
        </p:nvSpPr>
        <p:spPr>
          <a:xfrm>
            <a:off x="4730211" y="3206296"/>
            <a:ext cx="451164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Le projet utilise principalement :</a:t>
            </a:r>
          </a:p>
          <a:p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Bleu : qui exprime la confiance et</a:t>
            </a:r>
          </a:p>
          <a:p>
            <a:r>
              <a:rPr lang="fr-FR" sz="2800" dirty="0"/>
              <a:t>le professionnalisme </a:t>
            </a:r>
          </a:p>
          <a:p>
            <a:endParaRPr lang="fr-FR" sz="28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fr-FR" sz="2800" dirty="0"/>
              <a:t>Rose :  pour la modernité et le dynamisme 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fr-F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Blanc : pour assurer la  lisibilité et la simplicité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138001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4DF6FA3-3628-4F24-A0DE-3C6B2C918C3B}"/>
              </a:ext>
            </a:extLst>
          </p:cNvPr>
          <p:cNvSpPr txBox="1"/>
          <p:nvPr/>
        </p:nvSpPr>
        <p:spPr>
          <a:xfrm>
            <a:off x="5623522" y="891439"/>
            <a:ext cx="5003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TYPOGRAPHIE</a:t>
            </a:r>
            <a:endParaRPr lang="fr-SN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83C2BD5-E785-4346-8E9F-B4C7EE062D3D}"/>
              </a:ext>
            </a:extLst>
          </p:cNvPr>
          <p:cNvSpPr txBox="1"/>
          <p:nvPr/>
        </p:nvSpPr>
        <p:spPr>
          <a:xfrm>
            <a:off x="5411787" y="1476213"/>
            <a:ext cx="3752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S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425218E-6F57-4A93-B38F-F642DB5BC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787" y="1924066"/>
            <a:ext cx="8031678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dirty="0">
              <a:latin typeface="Arial" panose="020B0604020202020204" pitchFamily="34" charset="0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projet utilise principalement la police</a:t>
            </a:r>
          </a:p>
          <a:p>
            <a:pPr marL="342900" indent="-342900" algn="ctr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fr-FR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Poppins</a:t>
            </a:r>
          </a:p>
          <a:p>
            <a:pPr marL="342900" indent="-342900" algn="ctr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fr-FR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Roboto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une bonne lisibilité  , une apparence moderne et une expérience utilisateur agréable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1B58440-D9F5-4B72-9750-A6EA9C486AE8}"/>
              </a:ext>
            </a:extLst>
          </p:cNvPr>
          <p:cNvSpPr txBox="1"/>
          <p:nvPr/>
        </p:nvSpPr>
        <p:spPr>
          <a:xfrm>
            <a:off x="5335588" y="5107494"/>
            <a:ext cx="5003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INSPIRATION</a:t>
            </a:r>
            <a:endParaRPr lang="fr-SN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206979B-65BB-4ED2-907A-0D6FB65EF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871" y="5907713"/>
            <a:ext cx="817245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dirty="0">
              <a:latin typeface="Arial" panose="020B0604020202020204" pitchFamily="34" charset="0"/>
            </a:endParaRP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design du projet est une création personnelle réalisée en suivant les consignes du fourni par le professeur.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choix de mise en page, de couleurs, de navigation et d'organisation des contenus ont été réalisés de manière autonome afin de proposer une interface moderne, simple à utiliser et adaptée aux besoins des utilisateurs.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05529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575F729-C3B6-4F26-A8A2-E74994546907}"/>
              </a:ext>
            </a:extLst>
          </p:cNvPr>
          <p:cNvSpPr txBox="1"/>
          <p:nvPr/>
        </p:nvSpPr>
        <p:spPr>
          <a:xfrm>
            <a:off x="6440487" y="21056"/>
            <a:ext cx="6247231" cy="721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03.ACHITECTURE</a:t>
            </a:r>
            <a:endParaRPr lang="fr-SN" sz="4000" u="sng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D7A2672-64FD-4D3F-85CB-2A9731EC613C}"/>
              </a:ext>
            </a:extLst>
          </p:cNvPr>
          <p:cNvSpPr txBox="1"/>
          <p:nvPr/>
        </p:nvSpPr>
        <p:spPr>
          <a:xfrm>
            <a:off x="7429500" y="1296005"/>
            <a:ext cx="679608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KANE-</a:t>
            </a:r>
            <a:r>
              <a:rPr lang="fr-S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dieynaba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S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index.html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freelances.html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tarifs.html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about.html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contact.html  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fr-S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└── style.css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fr-S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└── main.js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images/ │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└── (vos images, logos, avatars)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docs/ │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└── NOM_Prenom_Presentation.pptx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README.md </a:t>
            </a:r>
          </a:p>
          <a:p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.</a:t>
            </a:r>
            <a:r>
              <a:rPr lang="fr-S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gitignore</a:t>
            </a:r>
            <a:endParaRPr lang="fr-S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92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C76F3AF-A429-44C9-AB20-A0E78A774D8D}"/>
              </a:ext>
            </a:extLst>
          </p:cNvPr>
          <p:cNvSpPr txBox="1"/>
          <p:nvPr/>
        </p:nvSpPr>
        <p:spPr>
          <a:xfrm>
            <a:off x="5433021" y="-22962"/>
            <a:ext cx="5769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fr-FR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fr-FR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endParaRPr lang="fr-SN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91067A1-C791-44E8-8A74-D7560C716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637" y="665082"/>
            <a:ext cx="4114800" cy="353418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B989E9B-379A-4B28-B0E5-672AFA219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403" y="584169"/>
            <a:ext cx="4114800" cy="344886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1FF8796-0D9E-4233-A682-40CEE507BF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650" y="7194331"/>
            <a:ext cx="4381500" cy="347014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193E78F-6F02-42F2-B14D-D876B5462A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075" y="7025561"/>
            <a:ext cx="4114800" cy="377420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C0D66A01-4819-45FA-BA92-E9266FA7A4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141" y="4022712"/>
            <a:ext cx="3657600" cy="328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1126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744D7EA-F0DE-4E14-824F-68DD93C08272}"/>
              </a:ext>
            </a:extLst>
          </p:cNvPr>
          <p:cNvSpPr txBox="1"/>
          <p:nvPr/>
        </p:nvSpPr>
        <p:spPr>
          <a:xfrm>
            <a:off x="6402388" y="21056"/>
            <a:ext cx="6285330" cy="262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04.DEVELOPPEMENT JAVASCRIPT,BOOTSTRAP ET CSS AVANCE</a:t>
            </a:r>
          </a:p>
          <a:p>
            <a:pPr algn="ctr"/>
            <a:endParaRPr lang="fr-SN" sz="4000" u="sng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59AACE-16A7-4498-9528-9275BC4E04A0}"/>
              </a:ext>
            </a:extLst>
          </p:cNvPr>
          <p:cNvSpPr txBox="1"/>
          <p:nvPr/>
        </p:nvSpPr>
        <p:spPr>
          <a:xfrm>
            <a:off x="5242521" y="2283212"/>
            <a:ext cx="89830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FONCTIONNALITES REALISES AVEC JAVASCRIPT</a:t>
            </a:r>
            <a:endParaRPr lang="fr-SN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EFC2D4B-5B3B-4033-B09B-DF9ACADB3A92}"/>
              </a:ext>
            </a:extLst>
          </p:cNvPr>
          <p:cNvSpPr txBox="1"/>
          <p:nvPr/>
        </p:nvSpPr>
        <p:spPr>
          <a:xfrm>
            <a:off x="5222301" y="3695700"/>
            <a:ext cx="8361936" cy="5964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Changement du thème clair/sombre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Sauvegarde via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Compteurs animés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 des statistiques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Déclenchement au scroll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Effets Fade-In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Apparition progressive des sections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Filtrage dynamique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Recherche de freelances sans rechargement de page 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16663658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D761FC5-EB46-4D52-9DBA-52208D2110E2}"/>
              </a:ext>
            </a:extLst>
          </p:cNvPr>
          <p:cNvSpPr txBox="1"/>
          <p:nvPr/>
        </p:nvSpPr>
        <p:spPr>
          <a:xfrm>
            <a:off x="5108079" y="-40888"/>
            <a:ext cx="89830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FONCTIONNALITES BOOTSTRAP ET CSS AVANCE</a:t>
            </a:r>
            <a:endParaRPr lang="fr-SN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79E8BB3-49FB-48D1-8EC1-33E477B4A8B9}"/>
              </a:ext>
            </a:extLst>
          </p:cNvPr>
          <p:cNvSpPr txBox="1"/>
          <p:nvPr/>
        </p:nvSpPr>
        <p:spPr>
          <a:xfrm>
            <a:off x="5418644" y="1619251"/>
            <a:ext cx="8361936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utilisé pour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responsive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Boutons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Conteneurs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Grilles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personnalisé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CSS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Flexbox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Animations 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Responsive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du site pour différentes tailles d'écran.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81413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CA92733-C040-4672-BA41-C00EADE0EDA7}"/>
              </a:ext>
            </a:extLst>
          </p:cNvPr>
          <p:cNvSpPr txBox="1"/>
          <p:nvPr/>
        </p:nvSpPr>
        <p:spPr>
          <a:xfrm>
            <a:off x="6326187" y="2"/>
            <a:ext cx="60198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05.GitHub</a:t>
            </a:r>
          </a:p>
          <a:p>
            <a:pPr algn="ctr"/>
            <a:endParaRPr lang="fr-SN" sz="4000" u="sng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9F73425-28B0-4C36-B9B4-686BAE23B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2249"/>
            <a:ext cx="8096250" cy="809466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4005568-6BD0-4FEB-A46E-05B6B88245F9}"/>
              </a:ext>
            </a:extLst>
          </p:cNvPr>
          <p:cNvSpPr txBox="1"/>
          <p:nvPr/>
        </p:nvSpPr>
        <p:spPr>
          <a:xfrm>
            <a:off x="307975" y="1522750"/>
            <a:ext cx="9291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HISTORIQUE DES COMMITS</a:t>
            </a:r>
            <a:endParaRPr lang="fr-SN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B6113EF6-30B7-4098-BD59-7860FE50582F}"/>
              </a:ext>
            </a:extLst>
          </p:cNvPr>
          <p:cNvCxnSpPr>
            <a:cxnSpLocks/>
          </p:cNvCxnSpPr>
          <p:nvPr/>
        </p:nvCxnSpPr>
        <p:spPr>
          <a:xfrm>
            <a:off x="9351962" y="1047750"/>
            <a:ext cx="0" cy="9752012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30E4420C-DD60-403A-A45A-E4AE8EAD63D1}"/>
              </a:ext>
            </a:extLst>
          </p:cNvPr>
          <p:cNvSpPr txBox="1"/>
          <p:nvPr/>
        </p:nvSpPr>
        <p:spPr>
          <a:xfrm>
            <a:off x="9599613" y="1522750"/>
            <a:ext cx="4459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fr-SN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E7F21AE-3F55-4822-BFCE-6D924B808C38}"/>
              </a:ext>
            </a:extLst>
          </p:cNvPr>
          <p:cNvSpPr txBox="1"/>
          <p:nvPr/>
        </p:nvSpPr>
        <p:spPr>
          <a:xfrm>
            <a:off x="9660533" y="2286000"/>
            <a:ext cx="4188817" cy="3991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 du code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commit -m "Message"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push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fr-S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99B4770-0F89-4364-BF1C-8BDEB304F833}"/>
              </a:ext>
            </a:extLst>
          </p:cNvPr>
          <p:cNvSpPr txBox="1"/>
          <p:nvPr/>
        </p:nvSpPr>
        <p:spPr>
          <a:xfrm>
            <a:off x="9847263" y="6821605"/>
            <a:ext cx="4459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PAGE</a:t>
            </a:r>
            <a:endParaRPr lang="fr-SN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23483A3-3BBF-4E4A-8371-A622726DF741}"/>
              </a:ext>
            </a:extLst>
          </p:cNvPr>
          <p:cNvSpPr txBox="1"/>
          <p:nvPr/>
        </p:nvSpPr>
        <p:spPr>
          <a:xfrm>
            <a:off x="9734848" y="7689223"/>
            <a:ext cx="41888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déployé en ligne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Lien fonctionnel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Vérification du bon fonctionnement des pages</a:t>
            </a:r>
          </a:p>
        </p:txBody>
      </p:sp>
    </p:spTree>
    <p:extLst>
      <p:ext uri="{BB962C8B-B14F-4D97-AF65-F5344CB8AC3E}">
        <p14:creationId xmlns:p14="http://schemas.microsoft.com/office/powerpoint/2010/main" val="1588526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244A3F0-7F7E-455B-93A1-41DE0487ADD3}"/>
              </a:ext>
            </a:extLst>
          </p:cNvPr>
          <p:cNvSpPr txBox="1"/>
          <p:nvPr/>
        </p:nvSpPr>
        <p:spPr>
          <a:xfrm>
            <a:off x="6205538" y="1"/>
            <a:ext cx="64758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06.DIFFICULTES</a:t>
            </a:r>
          </a:p>
          <a:p>
            <a:pPr algn="ctr"/>
            <a:endParaRPr lang="fr-SN" sz="4000" u="sng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19C5C5CC-148D-46E0-8806-7F6564C3E209}"/>
              </a:ext>
            </a:extLst>
          </p:cNvPr>
          <p:cNvGrpSpPr/>
          <p:nvPr/>
        </p:nvGrpSpPr>
        <p:grpSpPr>
          <a:xfrm>
            <a:off x="4677778" y="1123950"/>
            <a:ext cx="9734550" cy="9182100"/>
            <a:chOff x="-295859" y="1123950"/>
            <a:chExt cx="9734550" cy="9182100"/>
          </a:xfrm>
        </p:grpSpPr>
        <p:sp>
          <p:nvSpPr>
            <p:cNvPr id="4" name="Parchemin : vertical 3">
              <a:extLst>
                <a:ext uri="{FF2B5EF4-FFF2-40B4-BE49-F238E27FC236}">
                  <a16:creationId xmlns:a16="http://schemas.microsoft.com/office/drawing/2014/main" id="{A19D4F24-AE1B-4A98-9357-355BC1959C95}"/>
                </a:ext>
              </a:extLst>
            </p:cNvPr>
            <p:cNvSpPr/>
            <p:nvPr/>
          </p:nvSpPr>
          <p:spPr>
            <a:xfrm>
              <a:off x="-295859" y="1123950"/>
              <a:ext cx="9734550" cy="9182100"/>
            </a:xfrm>
            <a:prstGeom prst="verticalScroll">
              <a:avLst/>
            </a:prstGeom>
            <a:noFill/>
            <a:ln w="28575"/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EA1262B2-D6AF-4655-86FE-62848C5F1D1F}"/>
                </a:ext>
              </a:extLst>
            </p:cNvPr>
            <p:cNvSpPr txBox="1"/>
            <p:nvPr/>
          </p:nvSpPr>
          <p:spPr>
            <a:xfrm>
              <a:off x="1216025" y="2529512"/>
              <a:ext cx="6819900" cy="7078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Difficulté 1 : Gestion des </a:t>
              </a:r>
              <a:r>
                <a:rPr lang="fr-FR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commits</a:t>
              </a:r>
              <a:r>
                <a:rPr lang="fr-FR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</a:t>
              </a:r>
            </a:p>
            <a:p>
              <a:r>
                <a:rPr lang="fr-FR" sz="32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Problème</a:t>
              </a:r>
              <a:r>
                <a:rPr lang="fr-F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: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fr-F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Réorganisation des </a:t>
              </a:r>
              <a:r>
                <a:rPr lang="fr-FR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commits</a:t>
              </a:r>
              <a:r>
                <a:rPr lang="fr-F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fr-F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Conflits lors du rebase </a:t>
              </a:r>
            </a:p>
            <a:p>
              <a:r>
                <a:rPr lang="fr-FR" sz="32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</a:t>
              </a:r>
              <a:r>
                <a:rPr lang="fr-F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:</a:t>
              </a:r>
            </a:p>
            <a:p>
              <a:pPr marL="457200" indent="-457200">
                <a:buFont typeface="Wingdings" panose="05000000000000000000" pitchFamily="2" charset="2"/>
                <a:buChar char="ü"/>
              </a:pPr>
              <a:r>
                <a:rPr lang="fr-F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Utilisation de Git Rebase </a:t>
              </a:r>
            </a:p>
            <a:p>
              <a:pPr marL="457200" indent="-457200">
                <a:buFont typeface="Wingdings" panose="05000000000000000000" pitchFamily="2" charset="2"/>
                <a:buChar char="ü"/>
              </a:pPr>
              <a:r>
                <a:rPr lang="fr-F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Résolution manuelle des conflits </a:t>
              </a:r>
            </a:p>
            <a:p>
              <a:r>
                <a:rPr lang="fr-FR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Difficulté 2 :Déploiement sur GitHub pages</a:t>
              </a:r>
            </a:p>
            <a:p>
              <a:r>
                <a:rPr lang="fr-FR" sz="32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Problème</a:t>
              </a:r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:</a:t>
              </a:r>
            </a:p>
            <a:p>
              <a:pPr marL="457200" indent="-457200">
                <a:buFont typeface="Wingdings" panose="05000000000000000000" pitchFamily="2" charset="2"/>
                <a:buChar char="§"/>
              </a:pPr>
              <a:r>
                <a:rPr lang="fr-F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 site ne se déployait pas a cause d’un problème de configuration Git (sous-module)</a:t>
              </a:r>
            </a:p>
            <a:p>
              <a:r>
                <a:rPr lang="fr-FR" sz="32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 :</a:t>
              </a:r>
            </a:p>
            <a:p>
              <a:pPr marL="457200" indent="-457200">
                <a:buFont typeface="Wingdings" panose="05000000000000000000" pitchFamily="2" charset="2"/>
                <a:buChar char="ü"/>
              </a:pPr>
              <a:r>
                <a:rPr lang="fr-F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Correction de la configuration Git et activation de Git pages</a:t>
              </a:r>
            </a:p>
            <a:p>
              <a:endParaRPr lang="fr-SN" dirty="0"/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4928E4C2-03F9-4CB0-A520-993622DD10ED}"/>
              </a:ext>
            </a:extLst>
          </p:cNvPr>
          <p:cNvSpPr txBox="1"/>
          <p:nvPr/>
        </p:nvSpPr>
        <p:spPr>
          <a:xfrm>
            <a:off x="7031037" y="1191391"/>
            <a:ext cx="6819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rial Rounded MT Bold" panose="020F0704030504030204" pitchFamily="34" charset="0"/>
              </a:rPr>
              <a:t>Les Principales difficultés Rencontrées et les solutions  apportées  </a:t>
            </a:r>
            <a:endParaRPr lang="fr-SN" sz="2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629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88B2EA0-8082-4524-A69F-1FB08B7BF7AE}"/>
              </a:ext>
            </a:extLst>
          </p:cNvPr>
          <p:cNvSpPr txBox="1"/>
          <p:nvPr/>
        </p:nvSpPr>
        <p:spPr>
          <a:xfrm>
            <a:off x="6249988" y="19050"/>
            <a:ext cx="64377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07.RESSOURCES UTILISES</a:t>
            </a:r>
          </a:p>
          <a:p>
            <a:pPr algn="ctr"/>
            <a:endParaRPr lang="fr-SN" sz="4000" u="sng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47B085-EB9B-4862-A734-20D8162535C1}"/>
              </a:ext>
            </a:extLst>
          </p:cNvPr>
          <p:cNvSpPr txBox="1"/>
          <p:nvPr/>
        </p:nvSpPr>
        <p:spPr>
          <a:xfrm>
            <a:off x="5354637" y="1694342"/>
            <a:ext cx="5543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endParaRPr lang="fr-SN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BB98CAD-307A-47E5-A798-9A74A56EF16F}"/>
              </a:ext>
            </a:extLst>
          </p:cNvPr>
          <p:cNvSpPr txBox="1"/>
          <p:nvPr/>
        </p:nvSpPr>
        <p:spPr>
          <a:xfrm>
            <a:off x="4973637" y="2047612"/>
            <a:ext cx="7205066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MDN Web Docs : pour HTML, CSS et JavaScript (balises, événements, validation des formulaires,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Documentation : pour la grille (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les composants et le responsive design.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 Documentation : pour les commandes Git (git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git commit, git rebase, git push, etc.).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Docs : pour GitHub Pages et la gestion du dépôt.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Awesome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(ou Bootstrap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Icons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selon ce que tu as utilisé) : pour les icônes du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footer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S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CD8D8DD-0DAF-4DDA-8E78-7948E4302436}"/>
              </a:ext>
            </a:extLst>
          </p:cNvPr>
          <p:cNvSpPr txBox="1"/>
          <p:nvPr/>
        </p:nvSpPr>
        <p:spPr>
          <a:xfrm>
            <a:off x="4973637" y="8171694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OUTILS</a:t>
            </a:r>
            <a:endParaRPr lang="fr-SN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0705CEA-91B6-424B-A62C-A8A497404A0A}"/>
              </a:ext>
            </a:extLst>
          </p:cNvPr>
          <p:cNvSpPr txBox="1"/>
          <p:nvPr/>
        </p:nvSpPr>
        <p:spPr>
          <a:xfrm>
            <a:off x="4973637" y="8849473"/>
            <a:ext cx="80200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/>
              <a:t>Visual studio code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/>
              <a:t>Git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/>
              <a:t>GitHub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/>
              <a:t>GitHub pages</a:t>
            </a:r>
            <a:endParaRPr lang="fr-SN" sz="2800" dirty="0"/>
          </a:p>
        </p:txBody>
      </p:sp>
    </p:spTree>
    <p:extLst>
      <p:ext uri="{BB962C8B-B14F-4D97-AF65-F5344CB8AC3E}">
        <p14:creationId xmlns:p14="http://schemas.microsoft.com/office/powerpoint/2010/main" val="415712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F78420A-A5CB-46CF-A2BA-AE1939768948}"/>
              </a:ext>
            </a:extLst>
          </p:cNvPr>
          <p:cNvSpPr txBox="1"/>
          <p:nvPr/>
        </p:nvSpPr>
        <p:spPr>
          <a:xfrm>
            <a:off x="6288088" y="19051"/>
            <a:ext cx="6399631" cy="131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08.DEMONSTRATION</a:t>
            </a:r>
          </a:p>
          <a:p>
            <a:pPr algn="ctr"/>
            <a:endParaRPr lang="fr-SN" sz="4000" u="sng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99D792E0-815D-42C8-ACE9-7D0F1CC72828}"/>
              </a:ext>
            </a:extLst>
          </p:cNvPr>
          <p:cNvGrpSpPr/>
          <p:nvPr/>
        </p:nvGrpSpPr>
        <p:grpSpPr>
          <a:xfrm>
            <a:off x="5391568" y="1099869"/>
            <a:ext cx="7296150" cy="6215331"/>
            <a:chOff x="-323850" y="680768"/>
            <a:chExt cx="7296150" cy="6215331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6B5A5B0A-F4BD-4E88-978A-AD246AB9EEF4}"/>
                </a:ext>
              </a:extLst>
            </p:cNvPr>
            <p:cNvSpPr txBox="1"/>
            <p:nvPr/>
          </p:nvSpPr>
          <p:spPr>
            <a:xfrm>
              <a:off x="952500" y="2004207"/>
              <a:ext cx="5791200" cy="3693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Fonctionnalités à montrer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fr-FR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Navigation entre les pages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fr-FR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Dark</a:t>
              </a:r>
              <a:r>
                <a:rPr lang="fr-FR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Mode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fr-FR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Filtrage des freelances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fr-FR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Compteurs animés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fr-FR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Formulaire de contact </a:t>
              </a:r>
            </a:p>
            <a:p>
              <a:endParaRPr lang="fr-FR" b="1" dirty="0"/>
            </a:p>
          </p:txBody>
        </p:sp>
        <p:sp>
          <p:nvSpPr>
            <p:cNvPr id="4" name="Phylactère : pensées 3">
              <a:extLst>
                <a:ext uri="{FF2B5EF4-FFF2-40B4-BE49-F238E27FC236}">
                  <a16:creationId xmlns:a16="http://schemas.microsoft.com/office/drawing/2014/main" id="{53C822E1-80EB-4709-831F-CE7959049999}"/>
                </a:ext>
              </a:extLst>
            </p:cNvPr>
            <p:cNvSpPr/>
            <p:nvPr/>
          </p:nvSpPr>
          <p:spPr>
            <a:xfrm>
              <a:off x="-323850" y="680768"/>
              <a:ext cx="7296150" cy="6215331"/>
            </a:xfrm>
            <a:prstGeom prst="cloudCallou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</p:grpSp>
    </p:spTree>
    <p:extLst>
      <p:ext uri="{BB962C8B-B14F-4D97-AF65-F5344CB8AC3E}">
        <p14:creationId xmlns:p14="http://schemas.microsoft.com/office/powerpoint/2010/main" val="24728874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8C28F87-E2BF-4529-8B72-E7B04F49B344}"/>
              </a:ext>
            </a:extLst>
          </p:cNvPr>
          <p:cNvSpPr txBox="1"/>
          <p:nvPr/>
        </p:nvSpPr>
        <p:spPr>
          <a:xfrm>
            <a:off x="6192838" y="476250"/>
            <a:ext cx="6494881" cy="137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08.CONCLUSION</a:t>
            </a:r>
          </a:p>
          <a:p>
            <a:pPr algn="ctr"/>
            <a:endParaRPr lang="fr-SN" sz="4000" u="sng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B212B00-F5C8-47F7-87A8-F97C47D26A2E}"/>
              </a:ext>
            </a:extLst>
          </p:cNvPr>
          <p:cNvSpPr txBox="1"/>
          <p:nvPr/>
        </p:nvSpPr>
        <p:spPr>
          <a:xfrm>
            <a:off x="5297487" y="1752601"/>
            <a:ext cx="8420100" cy="622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réalisé avec HTML5, CSS3, Bootstrap et JavaScript.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Développement d’un site web responsive composé de 5 pages.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Mise en place de plusieurs fonctionnalités interactives (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Mode, filtrage des freelances, validation du formulaire, animations…).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 projet m’a permis de renforcer mes compétences en développement web et en utilisation de Git/GitHub.</a:t>
            </a:r>
            <a:endParaRPr lang="fr-S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17303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2668130-C85A-485C-9B7B-316B6A3A0996}"/>
              </a:ext>
            </a:extLst>
          </p:cNvPr>
          <p:cNvSpPr txBox="1"/>
          <p:nvPr/>
        </p:nvSpPr>
        <p:spPr>
          <a:xfrm>
            <a:off x="6192838" y="476250"/>
            <a:ext cx="64948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u="sng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09. PERCEPTIVES D’AMELIORATION</a:t>
            </a:r>
          </a:p>
          <a:p>
            <a:pPr algn="ctr"/>
            <a:endParaRPr lang="fr-SN" sz="4000" u="sng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07B33F-C36D-441A-807F-D2D24948C49F}"/>
              </a:ext>
            </a:extLst>
          </p:cNvPr>
          <p:cNvSpPr txBox="1"/>
          <p:nvPr/>
        </p:nvSpPr>
        <p:spPr>
          <a:xfrm>
            <a:off x="5230227" y="2415243"/>
            <a:ext cx="84201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Ajouter un système de connexion (authentification).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Paiement en ligne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Connecter le formulaire à une base de données pour enregistrer les messages.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Ajouter un moteur de recherche plus avancé pour les freelances.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Développer un espace personnel pour les freelances et les clients.</a:t>
            </a:r>
          </a:p>
        </p:txBody>
      </p:sp>
    </p:spTree>
    <p:extLst>
      <p:ext uri="{BB962C8B-B14F-4D97-AF65-F5344CB8AC3E}">
        <p14:creationId xmlns:p14="http://schemas.microsoft.com/office/powerpoint/2010/main" val="3421580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3385</TotalTime>
  <Words>792</Words>
  <Application>Microsoft Office PowerPoint</Application>
  <PresentationFormat>Personnalisé</PresentationFormat>
  <Paragraphs>180</Paragraphs>
  <Slides>15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Arial Rounded MT Bold</vt:lpstr>
      <vt:lpstr>Calibri</vt:lpstr>
      <vt:lpstr>Calibri Light</vt:lpstr>
      <vt:lpstr>Courier New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DIEYNABA KANE</dc:creator>
  <cp:lastModifiedBy>DIEYNABA KANE</cp:lastModifiedBy>
  <cp:revision>58</cp:revision>
  <dcterms:created xsi:type="dcterms:W3CDTF">2026-06-22T22:52:13Z</dcterms:created>
  <dcterms:modified xsi:type="dcterms:W3CDTF">2026-06-29T19:56:39Z</dcterms:modified>
</cp:coreProperties>
</file>